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3383280"/>
            <a:ext cx="2560320" cy="2560320"/>
          </a:xfrm>
          <a:prstGeom prst="ellipse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4114800"/>
            <a:ext cx="1463040" cy="1463040"/>
          </a:xfrm>
          <a:prstGeom prst="ellipse">
            <a:avLst/>
          </a:prstGeom>
          <a:solidFill>
            <a:srgbClr val="4ECDC4">
              <a:alpha val="88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2743200"/>
            <a:ext cx="914400" cy="914400"/>
          </a:xfrm>
          <a:prstGeom prst="ellipse">
            <a:avLst/>
          </a:prstGeom>
          <a:solidFill>
            <a:srgbClr val="FFD700">
              <a:alpha val="75000"/>
            </a:srgbClr>
          </a:solidFill>
          <a:ln w="12700">
            <a:solidFill>
              <a:srgbClr val="FFD70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Descriptors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Deformable Curves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6400800" cy="274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— Advanced Seminar for Ph.D. Scholars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306324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63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44952" y="306324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3063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Descriptors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9864" y="306324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3063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6301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301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Contours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44952" y="36301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36301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9864" y="3630168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9864" y="36301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124A"/>
          </a:solidFill>
          <a:ln w="12700">
            <a:solidFill>
              <a:srgbClr val="121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Fundamentals to Cutting-Edge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502920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82296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Fourier Transform Fundamentals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502920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229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0" y="82296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Fourier Transform (DFT) &amp; Complex Representation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78308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783080"/>
            <a:ext cx="502920" cy="8046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7830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178308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Descriptors for 2D Shape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78308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783080"/>
            <a:ext cx="502920" cy="80467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7830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178308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Descriptors &amp; Multi-Resolution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74320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BB8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743200"/>
            <a:ext cx="502920" cy="804672"/>
          </a:xfrm>
          <a:prstGeom prst="rect">
            <a:avLst/>
          </a:prstGeom>
          <a:solidFill>
            <a:srgbClr val="BB88FF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432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274320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Curves: Active Contours &amp; Snakes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74320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743200"/>
            <a:ext cx="502920" cy="8046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7432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03520" y="274320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 Methods for Implicit Curve Evolution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70332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703320"/>
            <a:ext cx="502920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7033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2960" y="370332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Analysis: FD vs AC vs LS vs Wavelets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703320"/>
            <a:ext cx="4206240" cy="804672"/>
          </a:xfrm>
          <a:prstGeom prst="rect">
            <a:avLst/>
          </a:prstGeom>
          <a:solidFill>
            <a:srgbClr val="12124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703320"/>
            <a:ext cx="502920" cy="8046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7033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61A"/>
                </a:solidFill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03520" y="3703320"/>
            <a:ext cx="35204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&amp; Research Frontiers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Fourier Transform — The Foundation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1.1 — What is a Signal?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4023360" cy="1097280"/>
          </a:xfrm>
          <a:prstGeom prst="rect">
            <a:avLst/>
          </a:prstGeom>
          <a:solidFill>
            <a:srgbClr val="1212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97280"/>
            <a:ext cx="4023360" cy="34747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Sound Wave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variation over time — each note is a pure frequency sine wave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2331720"/>
            <a:ext cx="4023360" cy="1097280"/>
          </a:xfrm>
          <a:prstGeom prst="rect">
            <a:avLst/>
          </a:prstGeom>
          <a:solidFill>
            <a:srgbClr val="12124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331720"/>
            <a:ext cx="4023360" cy="347472"/>
          </a:xfrm>
          <a:prstGeom prst="rect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500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Row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7157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intensities along a scan line — spatial frequency encodes edges &amp; texture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3566160"/>
            <a:ext cx="4023360" cy="1097280"/>
          </a:xfrm>
          <a:prstGeom prst="rect">
            <a:avLst/>
          </a:prstGeom>
          <a:solidFill>
            <a:srgbClr val="12124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566160"/>
            <a:ext cx="4023360" cy="347472"/>
          </a:xfrm>
          <a:prstGeom prst="rect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5844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Shape Boundary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9502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x(t), y(t) coordinates along a curve — periodic, closed contour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051560"/>
            <a:ext cx="4480560" cy="2743200"/>
          </a:xfrm>
          <a:prstGeom prst="rect">
            <a:avLst/>
          </a:prstGeom>
          <a:solidFill>
            <a:srgbClr val="12124A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1155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Fourier's Claim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1572768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periodic signal can be expressed as a sum of sines and cosines of different frequencies."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542032"/>
            <a:ext cx="4114800" cy="11887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f(t) = a₀/2 + Σ [aₙcos(nωt) + bₙsin(nωt)]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aₙ = (2/T)∫f(t)cos(nωt)dt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bₙ = (2/T)∫f(t)sin(nωt)dt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" y="402336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 decomposes complexity into simple oscillations.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Series: Adding Harmonics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85800"/>
            <a:ext cx="88696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703320"/>
            <a:ext cx="2834640" cy="1234440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N=1: Fundamental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40965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base frequency — a sine wave. Rough approximation.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4680" y="3703320"/>
            <a:ext cx="2834640" cy="1234440"/>
          </a:xfrm>
          <a:prstGeom prst="rect">
            <a:avLst/>
          </a:prstGeom>
          <a:solidFill>
            <a:srgbClr val="12124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N=5: Adding Harmonics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40965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terms sharpen edges. Signal gets closer to square.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3703320"/>
            <a:ext cx="2834640" cy="1234440"/>
          </a:xfrm>
          <a:prstGeom prst="rect">
            <a:avLst/>
          </a:prstGeom>
          <a:solidFill>
            <a:srgbClr val="12124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N=20: Convergence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17920" y="40965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harmonics → nearly perfect. Gibbs phenomenon near jumps.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Discrete Fourier Transform (DFT)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4114800" cy="4206240"/>
          </a:xfrm>
          <a:prstGeom prst="rect">
            <a:avLst/>
          </a:prstGeom>
          <a:solidFill>
            <a:srgbClr val="12124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680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Formula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DFT: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3749040" cy="41148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Z[k] = Σₙ z[n] · e^(−j2πkn/N)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DFT: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3749040" cy="41148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z[n] = (1/N) Σₖ Z[k] · e^(+j2πkn/N)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907792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frequency index (0 to N−1)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sample index (time/space)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total number of samples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Z[k]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complex Fourier coefficient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e^(−j2πk/N)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N-th root of unity (phasor)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713232"/>
            <a:ext cx="4480560" cy="4206240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68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Phasor &amp; Spectrum Visualization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170432"/>
            <a:ext cx="43434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Fourier Descriptors for Shape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 2D shape boundary as a frequency signature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" y="1051560"/>
            <a:ext cx="2103120" cy="3200400"/>
          </a:xfrm>
          <a:prstGeom prst="rect">
            <a:avLst/>
          </a:prstGeom>
          <a:solidFill>
            <a:srgbClr val="1212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051560"/>
            <a:ext cx="2103120" cy="45720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789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Boundary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10312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N evenly-spaced boundary points: (x₀,y₀)...(xₙ₋₁,yₙ₋₁)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58568" y="2587752"/>
            <a:ext cx="914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051560"/>
            <a:ext cx="2103120" cy="3200400"/>
          </a:xfrm>
          <a:prstGeom prst="rect">
            <a:avLst/>
          </a:prstGeom>
          <a:solidFill>
            <a:srgbClr val="12124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051560"/>
            <a:ext cx="2103120" cy="45720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0789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Encoding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10312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as complex: z[n] = x[n] + j·y[n]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(Boundary → complex sequence)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98848" y="2587752"/>
            <a:ext cx="9144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051560"/>
            <a:ext cx="2103120" cy="3200400"/>
          </a:xfrm>
          <a:prstGeom prst="rect">
            <a:avLst/>
          </a:prstGeom>
          <a:solidFill>
            <a:srgbClr val="12124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051560"/>
            <a:ext cx="2103120" cy="457200"/>
          </a:xfrm>
          <a:prstGeom prst="rect">
            <a:avLst/>
          </a:prstGeom>
          <a:solidFill>
            <a:srgbClr val="FFD700">
              <a:alpha val="7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789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DFT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10312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Z[k] = Σₙ z[n]·e^(−j2πkn/N)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coefficients = descriptors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39128" y="2587752"/>
            <a:ext cx="9144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051560"/>
            <a:ext cx="2103120" cy="3200400"/>
          </a:xfrm>
          <a:prstGeom prst="rect">
            <a:avLst/>
          </a:prstGeom>
          <a:solidFill>
            <a:srgbClr val="12124A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051560"/>
            <a:ext cx="2103120" cy="457200"/>
          </a:xfrm>
          <a:prstGeom prst="rect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0789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1572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103120"/>
            <a:ext cx="19202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|Z[1]| for scale invariance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Phase-shift for rotation invariance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7160" y="4370832"/>
            <a:ext cx="8869680" cy="658368"/>
          </a:xfrm>
          <a:prstGeom prst="rect">
            <a:avLst/>
          </a:prstGeom>
          <a:solidFill>
            <a:srgbClr val="12124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4165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Invariance Properties of Fourier Descriptors: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44165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Translation: 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Z[0]=0   </a:t>
            </a:r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by |Z[1]|   </a:t>
            </a:r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Rotation: 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|Z[k]| magnitudes   </a:t>
            </a:r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Point: 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by phase of Z[1]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Pipeline: Shape → Descriptors → Reconstruction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685800"/>
            <a:ext cx="896112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4160520"/>
            <a:ext cx="2834640" cy="868680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Shape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8600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closed 2D boundary sampled as complex coordinates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36392" y="4160520"/>
            <a:ext cx="2834640" cy="868680"/>
          </a:xfrm>
          <a:prstGeom prst="rect">
            <a:avLst/>
          </a:prstGeom>
          <a:solidFill>
            <a:srgbClr val="12124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27832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27832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|Z[k]| encodes a specific spatial frequency component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35624" y="4160520"/>
            <a:ext cx="2834640" cy="868680"/>
          </a:xfrm>
          <a:prstGeom prst="rect">
            <a:avLst/>
          </a:prstGeom>
          <a:solidFill>
            <a:srgbClr val="12124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27064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27064" y="4480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 descriptors needed for perceptually accurate shape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as Shape Fingerprints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shape has a unique Fourier Descriptor signature — enabling robust classification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05840"/>
            <a:ext cx="89611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4279392"/>
            <a:ext cx="8778240" cy="749808"/>
          </a:xfrm>
          <a:prstGeom prst="rect">
            <a:avLst/>
          </a:prstGeom>
          <a:solidFill>
            <a:srgbClr val="12124A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315968"/>
            <a:ext cx="8503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Recognition Algorithm: </a:t>
            </a:r>
            <a:pPr indent="0" marL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Compute FD of query shape   </a:t>
            </a:r>
            <a:pPr indent="0" marL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Compare |Z[k]| vectors using Euclidean or χ² distance   </a:t>
            </a:r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Nearest match in database = recognized class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B88FF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Wavelet Descriptors — Multi-Resolution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4160520" cy="4251960"/>
          </a:xfrm>
          <a:prstGeom prst="rect">
            <a:avLst/>
          </a:prstGeom>
          <a:solidFill>
            <a:srgbClr val="12124A"/>
          </a:solidFill>
          <a:ln w="19050">
            <a:solidFill>
              <a:srgbClr val="BB8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Wavelets?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252728"/>
            <a:ext cx="3931920" cy="804672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93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Time-Frequency Localization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819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Fourier: knows WHAT frequencies, not WHERE. Wavelets know BOTH — essential for local shape features.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167128"/>
            <a:ext cx="3931920" cy="804672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03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Multi-Scale Representation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963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shape at coarse (global) and fine (local) scales simultaneously using MRA.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081528"/>
            <a:ext cx="3931920" cy="804672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181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Wavelet Transform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4107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WT{z}(a,b) = (1/√a)∫z(t)·ψ*((t−b)/a)dt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a, position b, mother wavelet 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995928"/>
            <a:ext cx="3931920" cy="804672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325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Discrete Wavelet (DWT)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3251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dyadic subband coding: successive low-pass + high-pass filtering with downsampling.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713232"/>
            <a:ext cx="4526280" cy="4251960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749808"/>
            <a:ext cx="43891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Deformable Curves — Active Contours (Snakes)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8869680" cy="640080"/>
          </a:xfrm>
          <a:prstGeom prst="rect">
            <a:avLst/>
          </a:prstGeom>
          <a:solidFill>
            <a:srgbClr val="12124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5895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Kass, Witkin, Terzopoulos (1988) — "Snakes: Active Contour Models" — IJCV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" y="1444752"/>
            <a:ext cx="4572000" cy="3474720"/>
          </a:xfrm>
          <a:prstGeom prst="rect">
            <a:avLst/>
          </a:prstGeom>
          <a:solidFill>
            <a:srgbClr val="12124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Energy Functional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4297680" cy="438912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E_snake = ∫₀¹ [E_int + E_ext] 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4505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Energy (smoothness):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788920"/>
            <a:ext cx="4297680" cy="36576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E_int = α|v'(s)|² + β|v″(s)|²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21868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Energy (image force):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547872"/>
            <a:ext cx="4297680" cy="36576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E_ext = −|∇I(v(s))|² (edge potential)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96849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elasticity   </a:t>
            </a:r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rigidity   </a:t>
            </a:r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∇I</a:t>
            </a:r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image gradient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1444752"/>
            <a:ext cx="4160520" cy="3474720"/>
          </a:xfrm>
          <a:prstGeom prst="rect">
            <a:avLst/>
          </a:prstGeom>
          <a:solidFill>
            <a:srgbClr val="12124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Evolution Sequence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901952"/>
            <a:ext cx="4096512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Contour Euler-Lagrange Equations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987552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749808"/>
            <a:ext cx="109728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Minimization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E_snake via calculus of variations gives the Euler-Lagrange PDE: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26280" y="886968"/>
            <a:ext cx="4343400" cy="658368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−d/ds[α v'(s)] + d²/ds²[β v″(s)] + ∇E_ext =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" y="1828800"/>
            <a:ext cx="8869680" cy="987552"/>
          </a:xfrm>
          <a:prstGeom prst="rect">
            <a:avLst/>
          </a:prstGeom>
          <a:solidFill>
            <a:srgbClr val="12124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828800"/>
            <a:ext cx="109728" cy="9875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836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Balance Interpretation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23113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snake is a particle system in equilibrium of forces: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1965960"/>
            <a:ext cx="4343400" cy="658368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F_int(elasticity) + F_int(bending) + F_ext(image) =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" y="2907792"/>
            <a:ext cx="8869680" cy="987552"/>
          </a:xfrm>
          <a:prstGeom prst="rect">
            <a:avLst/>
          </a:prstGeom>
          <a:solidFill>
            <a:srgbClr val="12124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" y="2907792"/>
            <a:ext cx="109728" cy="9875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626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310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artificial time t to evolve the curve iteratively: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3044952"/>
            <a:ext cx="4343400" cy="658368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vₜ = α v_ss − β v_ssss − ∇E_ext(v)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" y="3986784"/>
            <a:ext cx="8869680" cy="987552"/>
          </a:xfrm>
          <a:prstGeom prst="rect">
            <a:avLst/>
          </a:prstGeom>
          <a:solidFill>
            <a:srgbClr val="12124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" y="3986784"/>
            <a:ext cx="109728" cy="9875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041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Update (Matrix Form)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4389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 with N control points. Matrix A encodes internal forces: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123944"/>
            <a:ext cx="4343400" cy="658368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γI) vⁿ⁺¹ = γvⁿ − ∇E_ext(vⁿ)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" y="5074920"/>
            <a:ext cx="8869680" cy="182880"/>
          </a:xfrm>
          <a:prstGeom prst="rect">
            <a:avLst/>
          </a:prstGeom>
          <a:solidFill>
            <a:srgbClr val="12124A"/>
          </a:solidFill>
          <a:ln w="6350">
            <a:solidFill>
              <a:srgbClr val="8888B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Descriptors + Deformable Curves: Unified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91840" y="1371600"/>
            <a:ext cx="2560320" cy="1645920"/>
          </a:xfrm>
          <a:prstGeom prst="ellipse">
            <a:avLst/>
          </a:prstGeom>
          <a:solidFill>
            <a:srgbClr val="4ECDC4">
              <a:alpha val="80000"/>
            </a:srgbClr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14630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" y="868680"/>
            <a:ext cx="2926080" cy="1691640"/>
          </a:xfrm>
          <a:prstGeom prst="rect">
            <a:avLst/>
          </a:prstGeom>
          <a:solidFill>
            <a:srgbClr val="1212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Shape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" y="1490472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coefficients define the mean shape learned from training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868680"/>
            <a:ext cx="2926080" cy="1691640"/>
          </a:xfrm>
          <a:prstGeom prst="rect">
            <a:avLst/>
          </a:prstGeom>
          <a:solidFill>
            <a:srgbClr val="12124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0448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Low-Dimensional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70448" y="1490472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 only the first K Fourier modes — K≪N parameters vs N boundary points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" y="3200400"/>
            <a:ext cx="2926080" cy="1691640"/>
          </a:xfrm>
          <a:prstGeom prst="rect">
            <a:avLst/>
          </a:prstGeom>
          <a:solidFill>
            <a:srgbClr val="12124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3291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" y="3822192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Minimze snake energy in Fourier coefficient space: E(Z[1]...Z[K])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3200400"/>
            <a:ext cx="2926080" cy="1691640"/>
          </a:xfrm>
          <a:prstGeom prst="rect">
            <a:avLst/>
          </a:prstGeom>
          <a:solidFill>
            <a:srgbClr val="12124A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3291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Grammar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3822192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deformations defined by PCA on FD space — morphologically valid shapes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17520" y="2194560"/>
            <a:ext cx="6400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194560"/>
            <a:ext cx="64008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3017520"/>
            <a:ext cx="45720" cy="475488"/>
          </a:xfrm>
          <a:prstGeom prst="line">
            <a:avLst/>
          </a:prstGeom>
          <a:noFill/>
          <a:ln w="1905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491947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Fourier parameterization dramatically reduces search space for deformable model fitting (K&lt;&lt;N).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B88FF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 Level Set Methods — Implicit Curve Evolution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4160520" cy="4297680"/>
          </a:xfrm>
          <a:prstGeom prst="rect">
            <a:avLst/>
          </a:prstGeom>
          <a:solidFill>
            <a:srgbClr val="12124A"/>
          </a:solidFill>
          <a:ln w="19050">
            <a:solidFill>
              <a:srgbClr val="BB8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Representation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3931920" cy="841248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710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 Function 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6362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curve C as the zero-level set of ϕ(x,y,t):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C(t) = {(x,y) : ϕ(x,y,t) = 0}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Inside: ϕ &lt; 0  |  Outside: ϕ &gt; 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176272"/>
            <a:ext cx="3931920" cy="841248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12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Equation (PDE)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50545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dϕ/dt + F|∇ϕ|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speed function driven by image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118104"/>
            <a:ext cx="3931920" cy="841248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 Energy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4472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μ·L(C) + λ₁∫_in(I−c₁)² dA + λ₂∫_out(I−c₂)² 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Region-based: no need for edge gradient!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4059936"/>
            <a:ext cx="3931920" cy="841248"/>
          </a:xfrm>
          <a:prstGeom prst="rect">
            <a:avLst/>
          </a:prstGeom>
          <a:solidFill>
            <a:srgbClr val="000000">
              <a:alpha val="40000"/>
            </a:srgbClr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96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Change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3891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→ automatic merging/splitting of curves. No re-parameterization needed!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713232"/>
            <a:ext cx="4526280" cy="4297680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 Function Visualization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1170432"/>
            <a:ext cx="44805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7: Comparative Analysis of Techniques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9728" y="713232"/>
            <a:ext cx="1755648" cy="457200"/>
          </a:xfrm>
          <a:prstGeom prst="rect">
            <a:avLst/>
          </a:prstGeom>
          <a:solidFill>
            <a:srgbClr val="8888BB">
              <a:alpha val="70000"/>
            </a:srgbClr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7132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01952" y="713232"/>
            <a:ext cx="1755648" cy="45720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1952" y="7132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Desc.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94176" y="713232"/>
            <a:ext cx="1755648" cy="45720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7132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Contour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713232"/>
            <a:ext cx="1755648" cy="457200"/>
          </a:xfrm>
          <a:prstGeom prst="rect">
            <a:avLst/>
          </a:prstGeom>
          <a:solidFill>
            <a:srgbClr val="BB88FF">
              <a:alpha val="70000"/>
            </a:srgbClr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7132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78624" y="713232"/>
            <a:ext cx="1755648" cy="457200"/>
          </a:xfrm>
          <a:prstGeom prst="rect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8624" y="7132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Desc.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" y="1207008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" y="12070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01952" y="1207008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7672" y="12070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frequency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94176" y="1207008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9896" y="12070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curve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1207008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2070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function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78624" y="1207008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344" y="120700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freq.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" y="1691640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" y="1691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Change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01952" y="1691640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1691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Fixed topology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94176" y="1691640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9896" y="1691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 handling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1691640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1691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78624" y="1691640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24344" y="1691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Fixed topology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728" y="2176272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448" y="21762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01952" y="2176272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47672" y="21762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(from contour)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94176" y="2176272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9896" y="21762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2176272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21762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78624" y="2176272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24344" y="21762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9728" y="2660904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5448" y="266090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901952" y="2660904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47672" y="266090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(low-pass)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94176" y="2660904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9896" y="266090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0" y="2660904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266090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78624" y="2660904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24344" y="2660904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9728" y="3145536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5448" y="31455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901952" y="3145536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47672" y="31455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94176" y="3145536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39896" y="31455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per iter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0" y="3145536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31455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grid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78624" y="3145536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24344" y="3145536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9728" y="3630168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5448" y="36301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901952" y="3630168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47672" y="36301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94176" y="3630168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39896" y="36301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486400" y="3630168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32120" y="36301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278624" y="3630168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24344" y="3630168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9728" y="4114800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5448" y="411480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Features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901952" y="4114800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47672" y="411480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694176" y="4114800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39896" y="411480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486400" y="4114800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32120" y="411480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278624" y="4114800"/>
            <a:ext cx="1755648" cy="457200"/>
          </a:xfrm>
          <a:prstGeom prst="rect">
            <a:avLst/>
          </a:prstGeom>
          <a:solidFill>
            <a:srgbClr val="12124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24344" y="411480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09728" y="4599432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55448" y="459943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901952" y="4599432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47672" y="459943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Recognition, indexing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694176" y="4599432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39896" y="459943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tracking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486400" y="4599432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32120" y="459943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278624" y="4599432"/>
            <a:ext cx="1755648" cy="457200"/>
          </a:xfrm>
          <a:prstGeom prst="rect">
            <a:avLst/>
          </a:prstGeom>
          <a:solidFill>
            <a:srgbClr val="06061A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24344" y="459943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Texture+shape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Performance Comparison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67512"/>
            <a:ext cx="50292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49240" y="713232"/>
            <a:ext cx="3611880" cy="4251960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8046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40680" y="1298448"/>
            <a:ext cx="164592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87568" y="1316736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Desc.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62763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interpretability + speed. Weak on topology and local detail.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40680" y="2185416"/>
            <a:ext cx="164592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2203704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Contour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87568" y="25146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performer. Requires careful initialization and parameter tuning.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3072384"/>
            <a:ext cx="164592" cy="6400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87568" y="3090672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87568" y="34015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 accuracy + topology. High compute cost; hard to interpret.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40680" y="3959352"/>
            <a:ext cx="164592" cy="6400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87568" y="3977640"/>
            <a:ext cx="3154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87568" y="428853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local feature capture. High robustness to noise. Multi-scale.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8: Real-World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2834640" cy="2011680"/>
          </a:xfrm>
          <a:prstGeom prst="rect">
            <a:avLst/>
          </a:prstGeom>
          <a:solidFill>
            <a:srgbClr val="12124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749808"/>
            <a:ext cx="2834640" cy="420624"/>
          </a:xfrm>
          <a:prstGeom prst="rect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Medical Imaging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43584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MRI segmentation (active contours)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boundary delineation (level sets)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shape analysis &amp; atlas building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morphology classification via FD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749808"/>
            <a:ext cx="2834640" cy="2011680"/>
          </a:xfrm>
          <a:prstGeom prst="rect">
            <a:avLst/>
          </a:prstGeom>
          <a:solidFill>
            <a:srgbClr val="12124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36392" y="749808"/>
            <a:ext cx="2834640" cy="420624"/>
          </a:xfrm>
          <a:prstGeom prst="rect">
            <a:avLst/>
          </a:prstGeom>
          <a:solidFill>
            <a:srgbClr val="FF6B6B">
              <a:alpha val="6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Autonomous Vehicles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3552" y="1243584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silhouette recognition (FD-based)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marking detection (snakes)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sign shape classification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boundary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5624" y="749808"/>
            <a:ext cx="2834640" cy="2011680"/>
          </a:xfrm>
          <a:prstGeom prst="rect">
            <a:avLst/>
          </a:prstGeom>
          <a:solidFill>
            <a:srgbClr val="12124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35624" y="749808"/>
            <a:ext cx="2834640" cy="420624"/>
          </a:xfrm>
          <a:prstGeom prst="rect">
            <a:avLst/>
          </a:prstGeom>
          <a:solidFill>
            <a:srgbClr val="FFD700">
              <a:alpha val="6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7955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Biometrics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1243584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ridge pattern analysis (wavelet FD)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shape encoding for authentication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analysis from body silhouettes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geometry biometrics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" y="2898648"/>
            <a:ext cx="2834640" cy="2011680"/>
          </a:xfrm>
          <a:prstGeom prst="rect">
            <a:avLst/>
          </a:prstGeom>
          <a:solidFill>
            <a:srgbClr val="12124A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898648"/>
            <a:ext cx="2834640" cy="420624"/>
          </a:xfrm>
          <a:prstGeom prst="rect">
            <a:avLst/>
          </a:prstGeom>
          <a:solidFill>
            <a:srgbClr val="4ECDC4">
              <a:alpha val="6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Industrial Inspection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392424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component shape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on manufactured parts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shape analysis in materials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 bead profile monitoring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36392" y="2898648"/>
            <a:ext cx="2834640" cy="2011680"/>
          </a:xfrm>
          <a:prstGeom prst="rect">
            <a:avLst/>
          </a:prstGeom>
          <a:solidFill>
            <a:srgbClr val="12124A"/>
          </a:solidFill>
          <a:ln w="19050">
            <a:solidFill>
              <a:srgbClr val="BB8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6392" y="2898648"/>
            <a:ext cx="2834640" cy="420624"/>
          </a:xfrm>
          <a:prstGeom prst="rect">
            <a:avLst/>
          </a:prstGeom>
          <a:solidFill>
            <a:srgbClr val="BB88FF">
              <a:alpha val="65000"/>
            </a:srgbClr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Computer Graphics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73552" y="3392424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interpolation &amp; morphing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outline recognition (FD)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pose estimation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Sketch-based retrieval systems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2898648"/>
            <a:ext cx="2834640" cy="2011680"/>
          </a:xfrm>
          <a:prstGeom prst="rect">
            <a:avLst/>
          </a:prstGeom>
          <a:solidFill>
            <a:srgbClr val="12124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624" y="2898648"/>
            <a:ext cx="2834640" cy="420624"/>
          </a:xfrm>
          <a:prstGeom prst="rect">
            <a:avLst/>
          </a:prstGeom>
          <a:solidFill>
            <a:srgbClr val="00FF88">
              <a:alpha val="6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Remote Sensing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3392424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feature extraction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footprint delineation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Shoreline change monitoring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field boundary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 &amp; Research Frontiers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4251960" cy="1261872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749808"/>
            <a:ext cx="109728" cy="12618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13816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+ FD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20700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learn implicit Fourier-like filters. FD-CNN hybrids for shape recognition outperform pure DL on limited data. ShapeNet FD embeddings.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749808"/>
            <a:ext cx="4251960" cy="1261872"/>
          </a:xfrm>
          <a:prstGeom prst="rect">
            <a:avLst/>
          </a:prstGeom>
          <a:solidFill>
            <a:srgbClr val="12124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749808"/>
            <a:ext cx="109728" cy="1261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813816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Snakes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207008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boundary control points as a graph. GNN propagates energy across nodes — learns data-driven internal energy. ICCV 2021 Deep Snake.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" y="2139696"/>
            <a:ext cx="4251960" cy="1261872"/>
          </a:xfrm>
          <a:prstGeom prst="rect">
            <a:avLst/>
          </a:prstGeom>
          <a:solidFill>
            <a:srgbClr val="12124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2139696"/>
            <a:ext cx="109728" cy="12618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2203704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Neural Operators (FNO)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" y="2596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Leroux et al. 2021: learn PDEs in Fourier space. Direct extension to shape evolution PDEs — infinite-dimensional functional learning.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139696"/>
            <a:ext cx="4251960" cy="1261872"/>
          </a:xfrm>
          <a:prstGeom prst="rect">
            <a:avLst/>
          </a:prstGeom>
          <a:solidFill>
            <a:srgbClr val="12124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139696"/>
            <a:ext cx="109728" cy="126187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203704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Morphing &amp; Interpolation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2596896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space supports linear interpolation between shapes with guaranteed smoothness. Shape blending for data augmentation in medical imaging.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7160" y="3529584"/>
            <a:ext cx="4251960" cy="1261872"/>
          </a:xfrm>
          <a:prstGeom prst="rect">
            <a:avLst/>
          </a:prstGeom>
          <a:solidFill>
            <a:srgbClr val="12124A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" y="3529584"/>
            <a:ext cx="109728" cy="1261872"/>
          </a:xfrm>
          <a:prstGeom prst="rect">
            <a:avLst/>
          </a:prstGeom>
          <a:solidFill>
            <a:srgbClr val="BB88FF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593592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Shape Models (SSM)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" y="3986784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on FD space → Active Shape Models (ASM). Cootes et al. constrain snake deformation to statistically plausible shapes.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3529584"/>
            <a:ext cx="4251960" cy="1261872"/>
          </a:xfrm>
          <a:prstGeom prst="rect">
            <a:avLst/>
          </a:prstGeom>
          <a:solidFill>
            <a:srgbClr val="12124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529584"/>
            <a:ext cx="109728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593592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Data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18888" y="3986784"/>
            <a:ext cx="39502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homology + FD: capture multi-scale topological features. Combines with level set handles for topological shape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Mathematical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" y="713232"/>
            <a:ext cx="8924544" cy="484632"/>
          </a:xfrm>
          <a:prstGeom prst="rect">
            <a:avLst/>
          </a:prstGeom>
          <a:solidFill>
            <a:srgbClr val="12124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713232"/>
            <a:ext cx="91440" cy="4846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86384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Fourier Transform: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07792" y="768096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F(ω) = ∫_{-∞}^{∞} f(t) · e^{−jωt} dt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9728" y="1252728"/>
            <a:ext cx="8924544" cy="484632"/>
          </a:xfrm>
          <a:prstGeom prst="rect">
            <a:avLst/>
          </a:prstGeom>
          <a:solidFill>
            <a:srgbClr val="06061A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1252728"/>
            <a:ext cx="91440" cy="4846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25880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Fourier Transform (DFT):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07792" y="1307592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Z[k] = Σ_{n=0}^{N−1} z[n] · e^{−j2πkn/N},   k=0,...,N−1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728" y="1792224"/>
            <a:ext cx="8924544" cy="484632"/>
          </a:xfrm>
          <a:prstGeom prst="rect">
            <a:avLst/>
          </a:prstGeom>
          <a:solidFill>
            <a:srgbClr val="12124A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" y="1792224"/>
            <a:ext cx="91440" cy="4846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6537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Fourier Descriptor (Normalized):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07792" y="1847088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FD[k] = Z[k]/Z[1],   for k=2,...,K  (K&lt;&lt;N)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9728" y="2331720"/>
            <a:ext cx="8924544" cy="484632"/>
          </a:xfrm>
          <a:prstGeom prst="rect">
            <a:avLst/>
          </a:prstGeom>
          <a:solidFill>
            <a:srgbClr val="06061A"/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" y="2331720"/>
            <a:ext cx="91440" cy="48463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04872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Transform: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07792" y="2386584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W(a,b) = (1/√a) ∫ z(t) · ψ*((t−b)/a) dt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728" y="2871216"/>
            <a:ext cx="8924544" cy="484632"/>
          </a:xfrm>
          <a:prstGeom prst="rect">
            <a:avLst/>
          </a:prstGeom>
          <a:solidFill>
            <a:srgbClr val="12124A"/>
          </a:solidFill>
          <a:ln w="10160">
            <a:solidFill>
              <a:srgbClr val="BB8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" y="2871216"/>
            <a:ext cx="91440" cy="484632"/>
          </a:xfrm>
          <a:prstGeom prst="rect">
            <a:avLst/>
          </a:prstGeom>
          <a:solidFill>
            <a:srgbClr val="BB88FF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44368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Energy Minimization: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07792" y="2926080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∫₀¹[α|v'|² + β|v″|² − λ|∇I(v)|²] ds  →  min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9728" y="3410712"/>
            <a:ext cx="8924544" cy="484632"/>
          </a:xfrm>
          <a:prstGeom prst="rect">
            <a:avLst/>
          </a:prstGeom>
          <a:solidFill>
            <a:srgbClr val="06061A"/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" y="3410712"/>
            <a:ext cx="91440" cy="4846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83864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 PDE: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07792" y="3465576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ϕ_t = F · |∇ϕ| + ε·κ·|∇ϕ|,   κ = div(∇ϕ/|∇ϕ|)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9728" y="3950208"/>
            <a:ext cx="8924544" cy="484632"/>
          </a:xfrm>
          <a:prstGeom prst="rect">
            <a:avLst/>
          </a:prstGeom>
          <a:solidFill>
            <a:srgbClr val="12124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" y="3950208"/>
            <a:ext cx="91440" cy="4846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23360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 Functional: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07792" y="4005072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E(ϕ,c₁,c₂) = μ∫|∇H(ϕ)|dA + ∫[(I−c₁)²H(ϕ) + (I−c₂)²(1−H(ϕ))]dA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9728" y="4489704"/>
            <a:ext cx="8924544" cy="484632"/>
          </a:xfrm>
          <a:prstGeom prst="rect">
            <a:avLst/>
          </a:prstGeom>
          <a:solidFill>
            <a:srgbClr val="06061A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" y="4489704"/>
            <a:ext cx="91440" cy="4846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6285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Shape Distance Metric: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07792" y="4544568"/>
            <a:ext cx="5989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d(S₁,S₂) = √[Σₖ (|FD₁[k]| − |FD₂[k]|)²]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Questions &amp; Ph.D. Opportunities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621792"/>
          </a:xfrm>
          <a:prstGeom prst="rect">
            <a:avLst/>
          </a:prstGeom>
          <a:solidFill>
            <a:srgbClr val="1212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32104"/>
            <a:ext cx="457200" cy="45720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32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1A"/>
                </a:solidFill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80467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Fourier descriptors are sufficient for a given shape class?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 bounds on shape complexity?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1453896"/>
            <a:ext cx="8869680" cy="621792"/>
          </a:xfrm>
          <a:prstGeom prst="rect">
            <a:avLst/>
          </a:prstGeom>
          <a:solidFill>
            <a:srgbClr val="12124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536192"/>
            <a:ext cx="457200" cy="45720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1A"/>
                </a:solidFill>
              </a:rPr>
              <a:t>Q2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50876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learn optimal basis functions (beyond Fourier/wavelet) for a specific shape corpus using deep metric learning?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2157984"/>
            <a:ext cx="8869680" cy="621792"/>
          </a:xfrm>
          <a:prstGeom prst="rect">
            <a:avLst/>
          </a:prstGeom>
          <a:solidFill>
            <a:srgbClr val="12124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2240280"/>
            <a:ext cx="457200" cy="457200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1A"/>
                </a:solidFill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21284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incorporate FD-based shape priors into neural implicit representations (NeRF, SDF) for 3D?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" y="2862072"/>
            <a:ext cx="8869680" cy="621792"/>
          </a:xfrm>
          <a:prstGeom prst="rect">
            <a:avLst/>
          </a:prstGeom>
          <a:solidFill>
            <a:srgbClr val="12124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944368"/>
            <a:ext cx="457200" cy="457200"/>
          </a:xfrm>
          <a:prstGeom prst="ellipse">
            <a:avLst/>
          </a:prstGeom>
          <a:solidFill>
            <a:srgbClr val="4ECDC4">
              <a:alpha val="8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1A"/>
                </a:solidFill>
              </a:rPr>
              <a:t>Q4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91693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level set computation on GPU: what algorithmic shortcuts preserve accuracy?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" y="3566160"/>
            <a:ext cx="8869680" cy="621792"/>
          </a:xfrm>
          <a:prstGeom prst="rect">
            <a:avLst/>
          </a:prstGeom>
          <a:solidFill>
            <a:srgbClr val="12124A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3648456"/>
            <a:ext cx="457200" cy="457200"/>
          </a:xfrm>
          <a:prstGeom prst="ellipse">
            <a:avLst/>
          </a:prstGeom>
          <a:solidFill>
            <a:srgbClr val="BB88FF">
              <a:alpha val="80000"/>
            </a:srgbClr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1A"/>
                </a:solidFill>
              </a:rPr>
              <a:t>Q5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3621024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FD to 3D surface meshes: spherical harmonics, spectral graph theory connection?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" y="4270248"/>
            <a:ext cx="8869680" cy="621792"/>
          </a:xfrm>
          <a:prstGeom prst="rect">
            <a:avLst/>
          </a:prstGeom>
          <a:solidFill>
            <a:srgbClr val="12124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4352544"/>
            <a:ext cx="457200" cy="457200"/>
          </a:xfrm>
          <a:prstGeom prst="ellipse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61A"/>
                </a:solidFill>
              </a:rPr>
              <a:t>Q6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32511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 in deformable model segmentation — Bayesian snakes?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554480"/>
            <a:ext cx="4572000" cy="45720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2926080"/>
            <a:ext cx="3291840" cy="329184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4ECDC4">
              <a:alpha val="7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0" y="731520"/>
            <a:ext cx="457200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32688"/>
            <a:ext cx="4251960" cy="1719072"/>
          </a:xfrm>
          <a:prstGeom prst="rect">
            <a:avLst/>
          </a:prstGeom>
          <a:solidFill>
            <a:srgbClr val="12124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932688"/>
            <a:ext cx="4251960" cy="4754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9875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Descriptors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" y="148132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shape boundary into a compact, invariant frequency signature. Ideal for recognition, retrieval, and comparison.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32688"/>
            <a:ext cx="4251960" cy="1719072"/>
          </a:xfrm>
          <a:prstGeom prst="rect">
            <a:avLst/>
          </a:prstGeom>
          <a:solidFill>
            <a:srgbClr val="12124A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32688"/>
            <a:ext cx="4251960" cy="475488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9875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Curves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148132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Contours and Level Sets minimize energy to fit boundaries. Bridges signal processing and geometry.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2807208"/>
            <a:ext cx="4251960" cy="1719072"/>
          </a:xfrm>
          <a:prstGeom prst="rect">
            <a:avLst/>
          </a:prstGeom>
          <a:solidFill>
            <a:srgbClr val="12124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807208"/>
            <a:ext cx="4251960" cy="475488"/>
          </a:xfrm>
          <a:prstGeom prst="rect">
            <a:avLst/>
          </a:prstGeom>
          <a:solidFill>
            <a:srgbClr val="FFD700">
              <a:alpha val="7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8620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Framework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2608" y="3355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parameterization of deformable models combines compactness + physical constraints. The best of both worlds.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807208"/>
            <a:ext cx="4251960" cy="1719072"/>
          </a:xfrm>
          <a:prstGeom prst="rect">
            <a:avLst/>
          </a:prstGeom>
          <a:solidFill>
            <a:srgbClr val="12124A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807208"/>
            <a:ext cx="4251960" cy="475488"/>
          </a:xfrm>
          <a:prstGeom prst="rect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8620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Multi-Resolution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73168" y="3355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Wavelets extend FD to capture local features at multiple scales — critical for complex shapes.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7160" y="4709160"/>
            <a:ext cx="8869680" cy="384048"/>
          </a:xfrm>
          <a:prstGeom prst="rect">
            <a:avLst/>
          </a:prstGeom>
          <a:solidFill>
            <a:srgbClr val="12124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73659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"Shape is the DNA of visual understanding — Fourier gives us the language to read it."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Descriptors in Deformable Curves</dc:title>
  <dc:subject>PptxGenJS Presentation</dc:subject>
  <dc:creator>PptxGenJS</dc:creator>
  <cp:lastModifiedBy>PptxGenJS</cp:lastModifiedBy>
  <cp:revision>1</cp:revision>
  <dcterms:created xsi:type="dcterms:W3CDTF">2026-04-28T11:15:54Z</dcterms:created>
  <dcterms:modified xsi:type="dcterms:W3CDTF">2026-04-28T11:15:54Z</dcterms:modified>
</cp:coreProperties>
</file>